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9" r:id="rId2"/>
    <p:sldId id="256" r:id="rId3"/>
    <p:sldId id="257" r:id="rId4"/>
    <p:sldId id="258" r:id="rId5"/>
    <p:sldId id="261" r:id="rId6"/>
  </p:sldIdLst>
  <p:sldSz cx="18288000" cy="10287000"/>
  <p:notesSz cx="6858000" cy="9144000"/>
  <p:embeddedFontLst>
    <p:embeddedFont>
      <p:font typeface="Telegraf" panose="020B0604020202020204" charset="0"/>
      <p:regular r:id="rId8"/>
    </p:embeddedFont>
    <p:embeddedFont>
      <p:font typeface="Telegraf 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CCEC"/>
    <a:srgbClr val="D8A4E6"/>
    <a:srgbClr val="0B0F28"/>
    <a:srgbClr val="E3BDED"/>
    <a:srgbClr val="BD67D6"/>
    <a:srgbClr val="B964D3"/>
    <a:srgbClr val="518DC4"/>
    <a:srgbClr val="9257C2"/>
    <a:srgbClr val="2E46AF"/>
    <a:srgbClr val="5FA0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3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1275F-98CF-4703-84ED-091DB612995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EC59F-8A65-4D0C-BF9E-CF8A688CB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844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network&#10;&#10;AI-generated content may be incorrect.">
            <a:extLst>
              <a:ext uri="{FF2B5EF4-FFF2-40B4-BE49-F238E27FC236}">
                <a16:creationId xmlns:a16="http://schemas.microsoft.com/office/drawing/2014/main" id="{3F869D8C-FC66-DF04-0B3F-39A83A1C2B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8" y="0"/>
            <a:ext cx="18302288" cy="10287000"/>
          </a:xfrm>
          <a:prstGeom prst="rect">
            <a:avLst/>
          </a:prstGeom>
        </p:spPr>
      </p:pic>
      <p:pic>
        <p:nvPicPr>
          <p:cNvPr id="7" name="Picture 6" descr="A logo with blue and purple colors&#10;&#10;AI-generated content may be incorrect.">
            <a:extLst>
              <a:ext uri="{FF2B5EF4-FFF2-40B4-BE49-F238E27FC236}">
                <a16:creationId xmlns:a16="http://schemas.microsoft.com/office/drawing/2014/main" id="{0B94E449-6550-46DA-8232-51F640AC5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0500"/>
            <a:ext cx="7391400" cy="57388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5F0350-A5B9-6D34-F543-F8D0AADA2FD8}"/>
              </a:ext>
            </a:extLst>
          </p:cNvPr>
          <p:cNvSpPr txBox="1"/>
          <p:nvPr/>
        </p:nvSpPr>
        <p:spPr>
          <a:xfrm>
            <a:off x="1485900" y="6483846"/>
            <a:ext cx="65532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B2CCEC"/>
                </a:solidFill>
              </a:rPr>
              <a:t>Team Members</a:t>
            </a:r>
            <a:br>
              <a:rPr lang="en-US" sz="3200" b="1" dirty="0">
                <a:solidFill>
                  <a:srgbClr val="B2CCEC"/>
                </a:solidFill>
              </a:rPr>
            </a:br>
            <a:r>
              <a:rPr lang="en-US" sz="2800" i="1" dirty="0">
                <a:solidFill>
                  <a:srgbClr val="B2CCEC"/>
                </a:solidFill>
              </a:rPr>
              <a:t>Prerna Narendra Kumar</a:t>
            </a:r>
          </a:p>
          <a:p>
            <a:r>
              <a:rPr lang="en-US" sz="2800" i="1" dirty="0">
                <a:solidFill>
                  <a:srgbClr val="B2CCEC"/>
                </a:solidFill>
              </a:rPr>
              <a:t>Nikita Pandey</a:t>
            </a:r>
          </a:p>
          <a:p>
            <a:r>
              <a:rPr lang="en-US" sz="2800" i="1" dirty="0">
                <a:solidFill>
                  <a:srgbClr val="B2CCEC"/>
                </a:solidFill>
              </a:rPr>
              <a:t>Sonali Singhal</a:t>
            </a:r>
          </a:p>
          <a:p>
            <a:r>
              <a:rPr lang="en-US" sz="2800" i="1" dirty="0" err="1">
                <a:solidFill>
                  <a:srgbClr val="B2CCEC"/>
                </a:solidFill>
              </a:rPr>
              <a:t>Vaidehee</a:t>
            </a:r>
            <a:r>
              <a:rPr lang="en-US" sz="2800" i="1" dirty="0">
                <a:solidFill>
                  <a:srgbClr val="B2CCEC"/>
                </a:solidFill>
              </a:rPr>
              <a:t> Salunkhe</a:t>
            </a:r>
          </a:p>
          <a:p>
            <a:r>
              <a:rPr lang="en-US" sz="2800" i="1" dirty="0" err="1">
                <a:solidFill>
                  <a:srgbClr val="B2CCEC"/>
                </a:solidFill>
              </a:rPr>
              <a:t>Rutuja</a:t>
            </a:r>
            <a:r>
              <a:rPr lang="en-US" sz="2800" i="1" dirty="0">
                <a:solidFill>
                  <a:srgbClr val="B2CCEC"/>
                </a:solidFill>
              </a:rPr>
              <a:t> </a:t>
            </a:r>
            <a:r>
              <a:rPr lang="en-US" sz="2800" i="1" dirty="0" err="1">
                <a:solidFill>
                  <a:srgbClr val="B2CCEC"/>
                </a:solidFill>
              </a:rPr>
              <a:t>Udhane</a:t>
            </a:r>
            <a:endParaRPr lang="en-US" sz="2800" i="1" dirty="0">
              <a:solidFill>
                <a:srgbClr val="B2CCEC"/>
              </a:solidFill>
            </a:endParaRPr>
          </a:p>
          <a:p>
            <a:endParaRPr lang="en-IN" sz="3200" b="1" dirty="0">
              <a:solidFill>
                <a:srgbClr val="B2CCE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EECAC3-9C89-0AE2-CE06-E63625CEC041}"/>
              </a:ext>
            </a:extLst>
          </p:cNvPr>
          <p:cNvSpPr txBox="1"/>
          <p:nvPr/>
        </p:nvSpPr>
        <p:spPr>
          <a:xfrm>
            <a:off x="1371600" y="4620280"/>
            <a:ext cx="845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An error is not an event it’s a Chain Reaction!</a:t>
            </a:r>
            <a:endParaRPr lang="en-IN" sz="2800" i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84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256359"/>
            <a:ext cx="1150620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7000" b="1" spc="-70" dirty="0" err="1">
                <a:solidFill>
                  <a:srgbClr val="64B5F6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ChAIn</a:t>
            </a:r>
            <a:r>
              <a:rPr lang="en-US" sz="7000" b="1" spc="-70" dirty="0">
                <a:solidFill>
                  <a:srgbClr val="64B5F6"/>
                </a:solidFill>
                <a:latin typeface="Telegraf Bold"/>
                <a:ea typeface="Telegraf Bold"/>
                <a:cs typeface="Telegraf Bold"/>
                <a:sym typeface="Telegraf Bold"/>
              </a:rPr>
              <a:t> Reaction </a:t>
            </a:r>
            <a:r>
              <a:rPr lang="en-US" sz="7000" b="1" u="none" strike="noStrike" spc="-70" dirty="0">
                <a:solidFill>
                  <a:srgbClr val="64B5F6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8447" y="1460492"/>
            <a:ext cx="5427383" cy="2692408"/>
            <a:chOff x="0" y="-9525"/>
            <a:chExt cx="7236511" cy="3589879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236511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D8A4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Problem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86"/>
              <a:ext cx="7236511" cy="28278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Manual impact analysis of code changes is slow, deeply dependent on experts, and highly error-prone. Developers spend hours inspecting diffs, tracing dependency chains, and trying to understand how changes propagate across large multi-repo systems.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5970" y="4650505"/>
            <a:ext cx="5429080" cy="5217393"/>
            <a:chOff x="0" y="-9525"/>
            <a:chExt cx="7238774" cy="6956523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38774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D8A4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Solution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84"/>
              <a:ext cx="7238774" cy="6194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800"/>
                </a:lnSpc>
              </a:pPr>
              <a:r>
                <a:rPr lang="en-US" sz="2000" spc="-20" dirty="0" err="1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ChAIn</a:t>
              </a: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-Reaction – A platform that builds a </a:t>
              </a:r>
              <a:r>
                <a:rPr lang="en-US" sz="2000" b="1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unified enterprise graph </a:t>
              </a: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spanning microservices, data stores &amp; middleware.</a:t>
              </a:r>
            </a:p>
            <a:p>
              <a:pPr lvl="0">
                <a:lnSpc>
                  <a:spcPts val="2800"/>
                </a:lnSpc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The UI visualizes this structure for exploration, impact propagation, and even manual addition of edges where tribal knowledge exists. </a:t>
              </a:r>
            </a:p>
            <a:p>
              <a:pPr lvl="0">
                <a:lnSpc>
                  <a:spcPts val="2800"/>
                </a:lnSpc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On a pull request, it computes the impact from the graph and uses AI to explain it clearly.</a:t>
              </a:r>
            </a:p>
            <a:p>
              <a:pPr lvl="0">
                <a:lnSpc>
                  <a:spcPts val="2800"/>
                </a:lnSpc>
              </a:pPr>
              <a:r>
                <a:rPr lang="en-US" sz="2000" b="1" spc="-20" dirty="0" err="1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ChAIn</a:t>
              </a:r>
              <a:r>
                <a:rPr lang="en-US" sz="2000" b="1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-Reaction combines AST parsing, graph theory, and LLM interpretation to provide an end-to-end view of how changes ripple across a system’s entire software landscape</a:t>
              </a: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71025" y="1530735"/>
            <a:ext cx="5429080" cy="1985741"/>
            <a:chOff x="0" y="-9525"/>
            <a:chExt cx="7238774" cy="264765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38774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D8A4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Customers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86"/>
              <a:ext cx="7238774" cy="18856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Developers, tech leads, architects, and enterprise software teams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QA engineers, release managers, and DevOps teams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02338" y="1530735"/>
            <a:ext cx="5429080" cy="2344814"/>
            <a:chOff x="0" y="-9525"/>
            <a:chExt cx="7238774" cy="312642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38774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D8A4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Key Metrics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2486"/>
              <a:ext cx="7238774" cy="2364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Impact Coverage  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Time to production 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Graph Completeness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Risk Hotspots Identified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AI Explanation Accuracy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02338" y="4578732"/>
            <a:ext cx="5429080" cy="3422032"/>
            <a:chOff x="0" y="-9525"/>
            <a:chExt cx="7238774" cy="4562711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7238774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D8A4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Channels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52486"/>
              <a:ext cx="7238774" cy="3800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Model integrated directly into the GitHub Pull Request workflow, where developers already review and approve changes.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endParaRPr lang="en-US" sz="2000" spc="-20" dirty="0">
                <a:solidFill>
                  <a:srgbClr val="B2CCEC"/>
                </a:solidFill>
                <a:latin typeface="Telegraf"/>
                <a:ea typeface="Telegraf"/>
                <a:cs typeface="Telegraf"/>
                <a:sym typeface="Telegraf"/>
              </a:endParaRP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Supported by a lightweight web dashboard to explore dependency graphs, impact summaries, and cross-repo relationships in more detail.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19405" y="4650505"/>
            <a:ext cx="5424446" cy="5217395"/>
            <a:chOff x="0" y="-9525"/>
            <a:chExt cx="7232595" cy="6956529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9525"/>
              <a:ext cx="7232595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 dirty="0">
                  <a:solidFill>
                    <a:srgbClr val="D8A4E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Unique Value Proposition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52486"/>
              <a:ext cx="7232595" cy="6194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Extensible plug-in architecture lets new languages and system types be added without touching the core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Shows how any change ripples across services, databases, queues, and shared libraries in seconds.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Helps architects spot fragile clusters &amp; high-dependency services that drive systemic risk.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AI turns complex graph insights into clear, actionable explanations for teams.</a:t>
              </a:r>
            </a:p>
            <a:p>
              <a:pPr marL="342900" lvl="0" indent="-342900">
                <a:lnSpc>
                  <a:spcPts val="2800"/>
                </a:lnSpc>
                <a:buFont typeface="Arial" panose="020B0604020202020204" pitchFamily="34" charset="0"/>
                <a:buChar char="•"/>
              </a:pPr>
              <a:r>
                <a:rPr lang="en-US" sz="2000" spc="-20" dirty="0">
                  <a:solidFill>
                    <a:srgbClr val="B2CCEC"/>
                  </a:solidFill>
                  <a:latin typeface="Telegraf"/>
                  <a:ea typeface="Telegraf"/>
                  <a:cs typeface="Telegraf"/>
                  <a:sym typeface="Telegraf"/>
                </a:rPr>
                <a:t>Effective time to production with minimal learning curve.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7441506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ADE8F4"/>
                </a:solidFill>
                <a:latin typeface="Telegraf Bold"/>
                <a:ea typeface="Telegraf Bold"/>
                <a:cs typeface="Telegraf Bold"/>
                <a:sym typeface="Telegraf Bold"/>
              </a:rPr>
              <a:t>1</a:t>
            </a:r>
          </a:p>
        </p:txBody>
      </p:sp>
      <p:pic>
        <p:nvPicPr>
          <p:cNvPr id="24" name="Picture 23" descr="A logo with blue and purple colors&#10;&#10;AI-generated content may be incorrect.">
            <a:extLst>
              <a:ext uri="{FF2B5EF4-FFF2-40B4-BE49-F238E27FC236}">
                <a16:creationId xmlns:a16="http://schemas.microsoft.com/office/drawing/2014/main" id="{77AFC53D-1EDA-CC3A-FB4D-2EE560A75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56" b="37434"/>
          <a:stretch>
            <a:fillRect/>
          </a:stretch>
        </p:blipFill>
        <p:spPr>
          <a:xfrm>
            <a:off x="7162800" y="315486"/>
            <a:ext cx="2495550" cy="8178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A63AA279-AD0D-2D87-3990-3FF09B2163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" y="-266701"/>
            <a:ext cx="18897600" cy="1061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08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6B3515-F288-8DB7-E962-EF0A9ED1D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"/>
          <a:stretch>
            <a:fillRect/>
          </a:stretch>
        </p:blipFill>
        <p:spPr>
          <a:xfrm>
            <a:off x="414091" y="495300"/>
            <a:ext cx="7854713" cy="4815197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D75817-DB13-C569-2644-EB905FC50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85"/>
          <a:stretch>
            <a:fillRect/>
          </a:stretch>
        </p:blipFill>
        <p:spPr>
          <a:xfrm>
            <a:off x="414092" y="5310497"/>
            <a:ext cx="7854712" cy="4093029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47518F3-B40D-6149-2602-E0DDC3C46F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706" y="4380531"/>
            <a:ext cx="8950973" cy="502299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09E125-AAEA-814C-6DBE-D040197E6D64}"/>
              </a:ext>
            </a:extLst>
          </p:cNvPr>
          <p:cNvCxnSpPr/>
          <p:nvPr/>
        </p:nvCxnSpPr>
        <p:spPr>
          <a:xfrm>
            <a:off x="8534400" y="342900"/>
            <a:ext cx="0" cy="9518795"/>
          </a:xfrm>
          <a:prstGeom prst="straightConnector1">
            <a:avLst/>
          </a:prstGeom>
          <a:ln w="4762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2">
            <a:extLst>
              <a:ext uri="{FF2B5EF4-FFF2-40B4-BE49-F238E27FC236}">
                <a16:creationId xmlns:a16="http://schemas.microsoft.com/office/drawing/2014/main" id="{32CB9B3B-FC46-4826-7969-86A04873A762}"/>
              </a:ext>
            </a:extLst>
          </p:cNvPr>
          <p:cNvSpPr txBox="1"/>
          <p:nvPr/>
        </p:nvSpPr>
        <p:spPr>
          <a:xfrm>
            <a:off x="8839201" y="266700"/>
            <a:ext cx="1150620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7000" b="1" spc="-70" dirty="0">
                <a:solidFill>
                  <a:srgbClr val="64B5F6"/>
                </a:solidFill>
                <a:latin typeface="Telegraf Bold"/>
                <a:ea typeface="Telegraf Bold"/>
                <a:cs typeface="Telegraf Bold"/>
                <a:sym typeface="Telegraf Bold"/>
              </a:rPr>
              <a:t>Outcomes </a:t>
            </a:r>
            <a:r>
              <a:rPr lang="en-US" sz="7000" b="1" u="none" strike="noStrike" spc="-70" dirty="0">
                <a:solidFill>
                  <a:srgbClr val="64B5F6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</a:p>
        </p:txBody>
      </p:sp>
      <p:pic>
        <p:nvPicPr>
          <p:cNvPr id="11" name="Picture 10" descr="A logo with blue and purple colors&#10;&#10;AI-generated content may be incorrect.">
            <a:extLst>
              <a:ext uri="{FF2B5EF4-FFF2-40B4-BE49-F238E27FC236}">
                <a16:creationId xmlns:a16="http://schemas.microsoft.com/office/drawing/2014/main" id="{053CF508-C24D-A7CD-B623-8546EA6C63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56" b="37434"/>
          <a:stretch>
            <a:fillRect/>
          </a:stretch>
        </p:blipFill>
        <p:spPr>
          <a:xfrm>
            <a:off x="13049250" y="419100"/>
            <a:ext cx="2495550" cy="8178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46E402-C0C4-EDCF-9B1D-E05428B5ABD4}"/>
              </a:ext>
            </a:extLst>
          </p:cNvPr>
          <p:cNvSpPr txBox="1"/>
          <p:nvPr/>
        </p:nvSpPr>
        <p:spPr>
          <a:xfrm>
            <a:off x="8815467" y="1409700"/>
            <a:ext cx="8786726" cy="258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2800"/>
              </a:lnSpc>
            </a:pPr>
            <a:r>
              <a:rPr lang="en-US" sz="2000" spc="-20" dirty="0">
                <a:solidFill>
                  <a:srgbClr val="B2CCEC"/>
                </a:solidFill>
                <a:latin typeface="Telegraf"/>
                <a:ea typeface="Telegraf"/>
                <a:cs typeface="Telegraf"/>
                <a:sym typeface="Telegraf"/>
              </a:rPr>
              <a:t>Comment ‘</a:t>
            </a:r>
            <a:r>
              <a:rPr lang="en-US" sz="2000" b="1" i="1" spc="-20" dirty="0">
                <a:solidFill>
                  <a:srgbClr val="B2CCEC"/>
                </a:solidFill>
                <a:latin typeface="Telegraf"/>
                <a:ea typeface="Telegraf"/>
                <a:cs typeface="Telegraf"/>
                <a:sym typeface="Telegraf"/>
              </a:rPr>
              <a:t>Analyze Impact!’</a:t>
            </a:r>
            <a:r>
              <a:rPr lang="en-US" sz="2000" spc="-20" dirty="0">
                <a:solidFill>
                  <a:srgbClr val="B2CCEC"/>
                </a:solidFill>
                <a:latin typeface="Telegraf"/>
                <a:ea typeface="Telegraf"/>
                <a:cs typeface="Telegraf"/>
                <a:sym typeface="Telegraf"/>
              </a:rPr>
              <a:t>  on the pull request of your version control platform to get a clear impact analysis explained by an AI helper. </a:t>
            </a:r>
            <a:br>
              <a:rPr lang="en-US" sz="2000" spc="-20" dirty="0">
                <a:solidFill>
                  <a:srgbClr val="B2CCEC"/>
                </a:solidFill>
                <a:latin typeface="Telegraf"/>
                <a:ea typeface="Telegraf"/>
                <a:cs typeface="Telegraf"/>
                <a:sym typeface="Telegraf"/>
              </a:rPr>
            </a:br>
            <a:r>
              <a:rPr lang="en-US" sz="2000" spc="-20" dirty="0">
                <a:solidFill>
                  <a:srgbClr val="B2CCEC"/>
                </a:solidFill>
                <a:latin typeface="Telegraf"/>
                <a:ea typeface="Telegraf"/>
                <a:cs typeface="Telegraf"/>
                <a:sym typeface="Telegraf"/>
              </a:rPr>
              <a:t>Find out cross repo or complete impact by one comment!</a:t>
            </a:r>
            <a:br>
              <a:rPr lang="en-US" sz="2000" spc="-20" dirty="0">
                <a:solidFill>
                  <a:srgbClr val="B2CCEC"/>
                </a:solidFill>
                <a:latin typeface="Telegraf"/>
                <a:ea typeface="Telegraf"/>
                <a:cs typeface="Telegraf"/>
                <a:sym typeface="Telegraf"/>
              </a:rPr>
            </a:br>
            <a:endParaRPr lang="en-US" sz="2000" spc="-20" dirty="0">
              <a:solidFill>
                <a:srgbClr val="B2CCE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lvl="0">
              <a:lnSpc>
                <a:spcPts val="2800"/>
              </a:lnSpc>
            </a:pPr>
            <a:endParaRPr lang="en-US" sz="2000" spc="-20" dirty="0">
              <a:solidFill>
                <a:srgbClr val="B2CCEC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lvl="0">
              <a:lnSpc>
                <a:spcPts val="2800"/>
              </a:lnSpc>
            </a:pPr>
            <a:r>
              <a:rPr lang="en-US" sz="2000" spc="-20" dirty="0">
                <a:solidFill>
                  <a:srgbClr val="B2CCEC"/>
                </a:solidFill>
                <a:latin typeface="Telegraf"/>
                <a:ea typeface="Telegraf"/>
                <a:cs typeface="Telegraf"/>
                <a:sym typeface="Telegraf"/>
              </a:rPr>
              <a:t>Visualize Chain Reaction upon modification of any node and identify risk hotspots and inter-dependent clusters!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13B9FA-992F-7768-2320-F7EFD999337C}"/>
              </a:ext>
            </a:extLst>
          </p:cNvPr>
          <p:cNvSpPr txBox="1"/>
          <p:nvPr/>
        </p:nvSpPr>
        <p:spPr>
          <a:xfrm>
            <a:off x="1905000" y="9486900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B2CCEC"/>
                </a:solidFill>
              </a:rPr>
              <a:t>Fig 1. Pull request impact analysis by chain reaction</a:t>
            </a:r>
            <a:endParaRPr lang="en-IN" i="1" dirty="0">
              <a:solidFill>
                <a:srgbClr val="B2CCEC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85C866-5B53-4602-58D9-55BC581395AC}"/>
              </a:ext>
            </a:extLst>
          </p:cNvPr>
          <p:cNvSpPr txBox="1"/>
          <p:nvPr/>
        </p:nvSpPr>
        <p:spPr>
          <a:xfrm>
            <a:off x="10287013" y="9486900"/>
            <a:ext cx="6781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B2CCEC"/>
                </a:solidFill>
              </a:rPr>
              <a:t>Fig 2. Chain Reaction UI for onboarding repo and dependency analysis</a:t>
            </a:r>
            <a:endParaRPr lang="en-IN" i="1" dirty="0">
              <a:solidFill>
                <a:srgbClr val="B2CC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498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9B1F0-9F8D-FD84-DDC9-6EA119E2A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network&#10;&#10;AI-generated content may be incorrect.">
            <a:extLst>
              <a:ext uri="{FF2B5EF4-FFF2-40B4-BE49-F238E27FC236}">
                <a16:creationId xmlns:a16="http://schemas.microsoft.com/office/drawing/2014/main" id="{C38858FF-5FEF-754C-793F-79A5AAC69D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8" y="0"/>
            <a:ext cx="18302288" cy="10287000"/>
          </a:xfrm>
          <a:prstGeom prst="rect">
            <a:avLst/>
          </a:prstGeom>
        </p:spPr>
      </p:pic>
      <p:pic>
        <p:nvPicPr>
          <p:cNvPr id="7" name="Picture 6" descr="A logo with blue and purple colors&#10;&#10;AI-generated content may be incorrect.">
            <a:extLst>
              <a:ext uri="{FF2B5EF4-FFF2-40B4-BE49-F238E27FC236}">
                <a16:creationId xmlns:a16="http://schemas.microsoft.com/office/drawing/2014/main" id="{1A56F210-E3DA-FA70-D447-3AF57A694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04900"/>
            <a:ext cx="7391400" cy="57388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67E430-B21A-A238-1D9A-B717AC83120D}"/>
              </a:ext>
            </a:extLst>
          </p:cNvPr>
          <p:cNvSpPr txBox="1"/>
          <p:nvPr/>
        </p:nvSpPr>
        <p:spPr>
          <a:xfrm>
            <a:off x="1371600" y="5534680"/>
            <a:ext cx="845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An error is not an event it’s a Chain Reaction!</a:t>
            </a:r>
            <a:endParaRPr lang="en-IN" sz="2800" i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A34ABD1-EA27-E4E7-91A4-309B6A68F41D}"/>
              </a:ext>
            </a:extLst>
          </p:cNvPr>
          <p:cNvSpPr txBox="1"/>
          <p:nvPr/>
        </p:nvSpPr>
        <p:spPr>
          <a:xfrm>
            <a:off x="2057400" y="6288137"/>
            <a:ext cx="11506200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7000" b="1" spc="-70" dirty="0">
                <a:solidFill>
                  <a:srgbClr val="64B5F6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You!</a:t>
            </a:r>
            <a:endParaRPr lang="en-US" sz="7000" b="1" u="none" strike="noStrike" spc="-70" dirty="0">
              <a:solidFill>
                <a:srgbClr val="64B5F6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</p:spTree>
    <p:extLst>
      <p:ext uri="{BB962C8B-B14F-4D97-AF65-F5344CB8AC3E}">
        <p14:creationId xmlns:p14="http://schemas.microsoft.com/office/powerpoint/2010/main" val="2730446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396</Words>
  <Application>Microsoft Office PowerPoint</Application>
  <PresentationFormat>Custom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</vt:lpstr>
      <vt:lpstr>Aptos</vt:lpstr>
      <vt:lpstr>Telegraf Bold</vt:lpstr>
      <vt:lpstr>Arial</vt:lpstr>
      <vt:lpstr>Telegraf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Problem</dc:title>
  <dc:creator>Nikita</dc:creator>
  <dc:description>Presentation - Problem</dc:description>
  <cp:lastModifiedBy>RUTUJA UDHANE</cp:lastModifiedBy>
  <cp:revision>5</cp:revision>
  <dcterms:created xsi:type="dcterms:W3CDTF">2006-08-16T00:00:00Z</dcterms:created>
  <dcterms:modified xsi:type="dcterms:W3CDTF">2025-11-21T18:09:42Z</dcterms:modified>
  <dc:identifier>DAG5RDyTBno</dc:identifier>
</cp:coreProperties>
</file>